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F2027"/>
                </a:solidFill>
                <a:latin typeface="Helvetica Neue"/>
              </a:defRPr>
            </a:pPr>
            <a:r>
              <a:t>Vertical and Horizontal Alignments</a:t>
            </a:r>
            <a:br/>
            <a:r>
              <a:t>in Curriculum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95057"/>
                </a:solidFill>
                <a:latin typeface="Arial"/>
              </a:defRPr>
            </a:pPr>
            <a:r>
              <a:t>Dhruba Prasad Niure, PhD</a:t>
            </a:r>
            <a:br/>
            <a:r>
              <a:t>Associate Professor, 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27"/>
                </a:solidFill>
                <a:latin typeface="Helvetica Neue"/>
              </a:defRPr>
            </a:pPr>
            <a:r>
              <a:t>Curriculum: A Plan for Educational Program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0F2027"/>
                          </a:solidFill>
                        </a:defRPr>
                      </a:pPr>
                      <a:r>
                        <a:t>Why to Teach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0F2027"/>
                          </a:solidFill>
                        </a:defRPr>
                      </a:pPr>
                      <a:r>
                        <a:t>What to Teach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0F2027"/>
                          </a:solidFill>
                        </a:defRPr>
                      </a:pPr>
                      <a:r>
                        <a:t>How to Teach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0F2027"/>
                          </a:solidFill>
                        </a:defRPr>
                      </a:pPr>
                      <a:r>
                        <a:t>How to Assess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008080"/>
                          </a:solidFill>
                        </a:defRPr>
                      </a:pPr>
                      <a:r>
                        <a:t>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008080"/>
                          </a:solidFill>
                        </a:defRPr>
                      </a:pPr>
                      <a:r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008080"/>
                          </a:solidFill>
                        </a:defRPr>
                      </a:pPr>
                      <a:r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008080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95057"/>
                          </a:solidFill>
                        </a:defRPr>
                      </a:pPr>
                      <a:r>
                        <a:t>Formulating competencies and learning outcomes to be achieved.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95057"/>
                          </a:solidFill>
                        </a:defRPr>
                      </a:pPr>
                      <a:r>
                        <a:t>Identifying the essential knowledge, values, and skills students should learn.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95057"/>
                          </a:solidFill>
                        </a:defRPr>
                      </a:pPr>
                      <a:r>
                        <a:t>Selecting effective and relevant teaching methods and activities.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95057"/>
                          </a:solidFill>
                        </a:defRPr>
                      </a:pPr>
                      <a:r>
                        <a:t>Determining how to measure students' LOTS and HOTS.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27"/>
                </a:solidFill>
                <a:latin typeface="Helvetica Neue"/>
              </a:defRPr>
            </a:pPr>
            <a:r>
              <a:t>Vertical and Horizontal Alignments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Sociology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Grade-11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Grade-12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8080"/>
                </a:solidFill>
              </a:defRPr>
            </a:pPr>
            <a:r>
              <a:t>Vertical Organization: Continuity, Sequence  |  Horizontal Organization: Scope,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27"/>
                </a:solidFill>
                <a:latin typeface="Helvetica Neue"/>
              </a:defRPr>
            </a:pPr>
            <a:r>
              <a:t>Questions to be Answered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What does continuity refer to?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What do you mean by sequence?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How do you define scope?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What does integration mean?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27"/>
                </a:solidFill>
                <a:latin typeface="Helvetica Neue"/>
              </a:defRPr>
            </a:pPr>
            <a:r>
              <a:t>Vertical and Horizontal Alignments in Curriculum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solidFill>
            <a:srgbClr val="F8F9FA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9144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9202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F2027"/>
                </a:solidFill>
                <a:latin typeface="Helvetica Neue"/>
              </a:defRPr>
            </a:pPr>
            <a:r>
              <a:t>Continuity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926080"/>
            <a:ext cx="8229600" cy="914400"/>
          </a:xfrm>
          <a:prstGeom prst="rect">
            <a:avLst/>
          </a:prstGeom>
          <a:solidFill>
            <a:srgbClr val="F8F9FA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2926080"/>
            <a:ext cx="9144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F2027"/>
                </a:solidFill>
                <a:latin typeface="Helvetica Neue"/>
              </a:defRPr>
            </a:pPr>
            <a:r>
              <a:t>Sequence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023360"/>
            <a:ext cx="8229600" cy="914400"/>
          </a:xfrm>
          <a:prstGeom prst="rect">
            <a:avLst/>
          </a:prstGeom>
          <a:solidFill>
            <a:srgbClr val="F8F9FA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4023360"/>
            <a:ext cx="9144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F2027"/>
                </a:solidFill>
                <a:latin typeface="Helvetica Neue"/>
              </a:defRPr>
            </a:pPr>
            <a: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5120640"/>
            <a:ext cx="8229600" cy="914400"/>
          </a:xfrm>
          <a:prstGeom prst="rect">
            <a:avLst/>
          </a:prstGeom>
          <a:solidFill>
            <a:srgbClr val="F8F9FA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0" y="5120640"/>
            <a:ext cx="9144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212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F2027"/>
                </a:solidFill>
                <a:latin typeface="Helvetica Neue"/>
              </a:defRPr>
            </a:pPr>
            <a:r>
              <a:t>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27"/>
                </a:solidFill>
                <a:latin typeface="Helvetica Neue"/>
              </a:defRPr>
            </a:pPr>
            <a:r>
              <a:t>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Reiteration of major element of curriculum.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Demands only duplication of major components of curriculum rather than progress of content from simple to complex order.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Helps students motivate towards lesson, gives priority to important knowledge and skills, makes new contents easy and comprehensive.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There is no hard and fast rule to make decision about this dimension of curriculum.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27"/>
                </a:solidFill>
                <a:latin typeface="Helvetica Neue"/>
              </a:defRPr>
            </a:pPr>
            <a:r>
              <a:t>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Sequence is related to continuity but goes beyond it.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Sequence demands not only duplication but progress from simple to complex order.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A number of principles such as simple to complex, prerequisite learning, chronological sequence, whole to part, increasing abstraction, etc. are used to determine the sequence.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Creates motivation within the learners, provides specialized knowledge into specific field,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27"/>
                </a:solidFill>
                <a:latin typeface="Helvetica Neue"/>
              </a:defRPr>
            </a:pPr>
            <a:r>
              <a:t>Continuity and Sequence: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572000"/>
            <a:ext cx="4572000" cy="73152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Single digit addition</a:t>
            </a:r>
          </a:p>
        </p:txBody>
      </p:sp>
      <p:sp>
        <p:nvSpPr>
          <p:cNvPr id="4" name="Up Arrow 3"/>
          <p:cNvSpPr/>
          <p:nvPr/>
        </p:nvSpPr>
        <p:spPr>
          <a:xfrm>
            <a:off x="5760720" y="4114800"/>
            <a:ext cx="365760" cy="274320"/>
          </a:xfrm>
          <a:prstGeom prst="upArrow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3200400"/>
            <a:ext cx="4572000" cy="73152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Double digit addition</a:t>
            </a:r>
          </a:p>
        </p:txBody>
      </p:sp>
      <p:sp>
        <p:nvSpPr>
          <p:cNvPr id="6" name="Up Arrow 5"/>
          <p:cNvSpPr/>
          <p:nvPr/>
        </p:nvSpPr>
        <p:spPr>
          <a:xfrm>
            <a:off x="5760720" y="2743200"/>
            <a:ext cx="365760" cy="274320"/>
          </a:xfrm>
          <a:prstGeom prst="upArrow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1828800"/>
            <a:ext cx="4572000" cy="73152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Double digit addition with carry 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27"/>
                </a:solidFill>
                <a:latin typeface="Helvetica Neue"/>
              </a:defRPr>
            </a:pPr>
            <a: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The breadth and depth of contents to be studied in the curriculum at a particular time.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When curricularists are deciding what contents to be included in the curriculum and the degree of intensity of the content, they are engaged in considering the scope.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Time constraint, common/core contents, special needs of learners, integration of contents, etc. play crucial role in determining scope.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This dimension is related to horizontal organization of curriculum.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27"/>
                </a:solidFill>
                <a:latin typeface="Helvetica Neue"/>
              </a:defRPr>
            </a:pPr>
            <a:r>
              <a:t>Scope: An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2286000" cy="73152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F2027"/>
                </a:solidFill>
              </a:defRPr>
            </a:pPr>
            <a:r>
              <a:t>Addition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286000"/>
            <a:ext cx="2286000" cy="731520"/>
          </a:xfrm>
          <a:prstGeom prst="rect">
            <a:avLst/>
          </a:prstGeom>
          <a:solidFill>
            <a:srgbClr val="0F20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Subtraction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286000"/>
            <a:ext cx="2286000" cy="73152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F2027"/>
                </a:solidFill>
              </a:defRPr>
            </a:pPr>
            <a:r>
              <a:t>Multiplication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59" y="2286000"/>
            <a:ext cx="2286000" cy="73152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F2027"/>
                </a:solidFill>
              </a:defRPr>
            </a:pPr>
            <a:r>
              <a:t>Division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200400"/>
            <a:ext cx="2286000" cy="731520"/>
          </a:xfrm>
          <a:prstGeom prst="rect">
            <a:avLst/>
          </a:prstGeom>
          <a:solidFill>
            <a:srgbClr val="0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Single digit subtraction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4297680"/>
            <a:ext cx="2286000" cy="731520"/>
          </a:xfrm>
          <a:prstGeom prst="rect">
            <a:avLst/>
          </a:prstGeom>
          <a:solidFill>
            <a:srgbClr val="0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Double digit subtraction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5394960"/>
            <a:ext cx="2286000" cy="731520"/>
          </a:xfrm>
          <a:prstGeom prst="rect">
            <a:avLst/>
          </a:prstGeom>
          <a:solidFill>
            <a:srgbClr val="0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Three digit subtraction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27"/>
                </a:solidFill>
                <a:latin typeface="Helvetica Neue"/>
              </a:defRPr>
            </a:pPr>
            <a:r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Horizontal relationship of curriculum elements (Tyler, 1949).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Relationship between different subjects taught at the same grade.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Integration plays a vital role to eliminate the contradictions that occur between/among the content that are included in two or more related but separate subjects.</a:t>
            </a:r>
          </a:p>
          <a:p>
            <a:pPr lvl="1">
              <a:spcAft>
                <a:spcPts val="1800"/>
              </a:spcAft>
              <a:defRPr sz="2200">
                <a:solidFill>
                  <a:srgbClr val="495057"/>
                </a:solidFill>
                <a:latin typeface="Arial"/>
              </a:defRPr>
            </a:pPr>
            <a:r>
              <a:t>Integration provides integrative learning to solve the problem of fragmentation and compartmentalization of contents.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F2027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8080"/>
                </a:solidFill>
                <a:latin typeface="Arial"/>
              </a:defRPr>
            </a:pPr>
            <a:r>
              <a:t>Question and Answer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